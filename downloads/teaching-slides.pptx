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_cover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0000" y="5472000"/>
            <a:ext cx="11448000" cy="1080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</a:rPr>
              <a:t>食農教育課程｜超級魚戰士—台灣鯛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微軟正黑體"/>
                <a:ea typeface="微軟正黑體"/>
              </a:rPr>
              <a:t>從魚塭到餐桌的惜食・科技探險（國小五年級・4節課）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課程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5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超級魚戰士學習地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5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0000" y="2340000"/>
            <a:ext cx="6840000" cy="187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軟正黑體"/>
                <a:ea typeface="微軟正黑體"/>
              </a:rPr>
              <a:t>主題一　魚塭探險隊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微軟正黑體"/>
                <a:ea typeface="微軟正黑體"/>
              </a:rPr>
              <a:t>第1節｜認識超級魚戰士的家（農業生產與環境）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為什麼家鄉有這麼多魚塭？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台江內海的故事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1. 很久以前，這裡是一片內海。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2. 泥沙淤積、海水退去，留下又低又鹹的土地。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3. 種田不容易，先民挖成一口口魚塭。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4. 台灣鯛淡水、半鹹水都能住，最適合在這裡長大。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台灣鯛為什麼是超級魚戰士？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四大超能力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★ 不怕熱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★ 不挑食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★ 長得快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★ 耐鹽、身體強壯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祕密基地：魚媽媽「口孵」護幼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水車與魚塭「三清」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水車：幫魚打氣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把空氣打進水裡，魚才有氧氣呼吸。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收成前的三清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水要清、飼料要清、環境要清，魚就不會有土味。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魚塭偵探任務＋六頂思考帽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1044000"/>
            <a:ext cx="11592000" cy="432000"/>
          </a:xfrm>
          <a:prstGeom prst="roundRect">
            <a:avLst>
              <a:gd name="adj" fmla="val 8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3A5E"/>
                </a:solidFill>
                <a:latin typeface="微軟正黑體"/>
                <a:ea typeface="微軟正黑體"/>
              </a:rPr>
              <a:t>分組角色：觀察員、紀錄員、攝影師、提問官</a:t>
            </a:r>
          </a:p>
        </p:txBody>
      </p:sp>
      <p:pic>
        <p:nvPicPr>
          <p:cNvPr id="4" name="Picture 3" descr="w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00" y="1584000"/>
            <a:ext cx="3432000" cy="514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36000" y="1655999"/>
            <a:ext cx="3600000" cy="1512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43A5E"/>
                </a:solidFill>
                <a:latin typeface="微軟正黑體"/>
                <a:ea typeface="微軟正黑體"/>
              </a:rPr>
              <a:t>白帽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143A5E"/>
                </a:solidFill>
                <a:latin typeface="微軟正黑體"/>
                <a:ea typeface="微軟正黑體"/>
              </a:rPr>
              <a:t>我看到的事實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80000" y="1655999"/>
            <a:ext cx="3600000" cy="1512000"/>
          </a:xfrm>
          <a:prstGeom prst="roundRect">
            <a:avLst>
              <a:gd name="adj" fmla="val 8000"/>
            </a:avLst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紅帽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微軟正黑體"/>
                <a:ea typeface="微軟正黑體"/>
              </a:rPr>
              <a:t>我的感受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6000" y="3347999"/>
            <a:ext cx="3600000" cy="1512000"/>
          </a:xfrm>
          <a:prstGeom prst="roundRect">
            <a:avLst>
              <a:gd name="adj" fmla="val 8000"/>
            </a:avLst>
          </a:prstGeom>
          <a:solidFill>
            <a:srgbClr val="F6C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43A5E"/>
                </a:solidFill>
                <a:latin typeface="微軟正黑體"/>
                <a:ea typeface="微軟正黑體"/>
              </a:rPr>
              <a:t>黃帽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143A5E"/>
                </a:solidFill>
                <a:latin typeface="微軟正黑體"/>
                <a:ea typeface="微軟正黑體"/>
              </a:rPr>
              <a:t>養殖的好處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80000" y="3347999"/>
            <a:ext cx="3600000" cy="15120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黑帽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微軟正黑體"/>
                <a:ea typeface="微軟正黑體"/>
              </a:rPr>
              <a:t>可能的風險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6000" y="5039999"/>
            <a:ext cx="3600000" cy="1512000"/>
          </a:xfrm>
          <a:prstGeom prst="roundRect">
            <a:avLst>
              <a:gd name="adj" fmla="val 8000"/>
            </a:avLst>
          </a:prstGeom>
          <a:solidFill>
            <a:srgbClr val="4CA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綠帽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微軟正黑體"/>
                <a:ea typeface="微軟正黑體"/>
              </a:rPr>
              <a:t>我的好點子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0000" y="5039999"/>
            <a:ext cx="3600000" cy="1512000"/>
          </a:xfrm>
          <a:prstGeom prst="roundRect">
            <a:avLst>
              <a:gd name="adj" fmla="val 8000"/>
            </a:avLst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</a:rPr>
              <a:t>藍帽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微軟正黑體"/>
                <a:ea typeface="微軟正黑體"/>
              </a:rPr>
              <a:t>我們的結論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0000" y="2340000"/>
            <a:ext cx="6840000" cy="187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軟正黑體"/>
                <a:ea typeface="微軟正黑體"/>
              </a:rPr>
              <a:t>主題二　鯛鯛變身記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微軟正黑體"/>
                <a:ea typeface="微軟正黑體"/>
              </a:rPr>
              <a:t>第2節｜三清處理與香煎台灣鯛（飲食健康與消費）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吳郭魚＝台灣鯛？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名字的由來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民國35年，吳振輝、郭啟彰兩位先生從新加坡帶回魚苗，存活13尾 → 吳郭魚。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升級成台灣鯛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品種改良：肉多刺少、沒有土味；產銷履歷可追溯；外銷日本、美國。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魚的身體與「三清」處理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魚鰭＝槳　魚鱗＝盔甲　魚鰓＝呼吸器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三清 SOP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① 去鱗：湯匙由尾往頭刮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② 去鰓：剪開鰓蓋取出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③ 去內臟：洗淨腹腔黑膜去腥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E07B1F"/>
                </a:solidFill>
                <a:latin typeface="微軟正黑體"/>
                <a:ea typeface="微軟正黑體"/>
              </a:rPr>
              <a:t>安全：戴手套、刀具由大人操作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三章一Q 聰明選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CAS台灣優良農產品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有機農產品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產銷履歷農產品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＋追溯 QR Code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任務：掃描 QR Code，找出魚塭在哪裡、離學校多遠？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吃在地＝新鮮又低碳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香煎台灣鯛與共食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1. 紙巾吸乾魚片水分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2. 熱鍋少油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3. 魚皮朝下中火煎2～3分鐘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4. 翻面再煎2分鐘，撒少許鹽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開動前：謝謝養魚人、謝謝這尾魚！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挑戰光盤，一點都不浪費！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0000" y="2340000"/>
            <a:ext cx="6840000" cy="187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軟正黑體"/>
                <a:ea typeface="微軟正黑體"/>
              </a:rPr>
              <a:t>主題三　魚鬆職人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微軟正黑體"/>
                <a:ea typeface="微軟正黑體"/>
              </a:rPr>
              <a:t>第3節｜台灣鯛魚鬆與全魚惜食（飲食生活與文化）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台灣鯛魚鬆三折頁 SOP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1044000"/>
            <a:ext cx="11592000" cy="432000"/>
          </a:xfrm>
          <a:prstGeom prst="roundRect">
            <a:avLst>
              <a:gd name="adj" fmla="val 8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3A5E"/>
                </a:solidFill>
                <a:latin typeface="微軟正黑體"/>
                <a:ea typeface="微軟正黑體"/>
              </a:rPr>
              <a:t>分組角色：主廚、副主廚、品管員、紀錄員</a:t>
            </a:r>
          </a:p>
        </p:txBody>
      </p:sp>
      <p:pic>
        <p:nvPicPr>
          <p:cNvPr id="4" name="Picture 3" descr="trifold_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00" y="1584000"/>
            <a:ext cx="7722000" cy="514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全魚利用寶藏圖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魚肉 → 魚鬆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魚頭魚骨 → 熬高湯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魚皮 → 皮革鑰匙圈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魚鱗 → 膠原蛋白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內臟 → 廚餘機堆肥種菜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惜食行動：吃全食・惜食材・愛分享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0000" y="2340000"/>
            <a:ext cx="6840000" cy="187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軟正黑體"/>
                <a:ea typeface="微軟正黑體"/>
              </a:rPr>
              <a:t>主題四　AI魚戰士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微軟正黑體"/>
                <a:ea typeface="微軟正黑體"/>
              </a:rPr>
              <a:t>第4節｜科技闖關與成果發表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Scratch 語音闖關規則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1. 對著麥克風大聲回答 AI 魚戰士的問題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2. 答對累積「魚鱗盔甲」能量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3. 三關：產地關 → 料理關 → 惜食關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4. 打敗「浪費怪獸」！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進階：新增一題自己的題目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AI研究小組：世界各地的「鯛」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台灣鯛：淡水／半鹹水養殖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日本真鯛：海水魚，喜慶吉祥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鯛魚燒：做成真鯛的形狀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AI 會出錯，資料要查證！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比對農業部資料卡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AI遊戲共創：把正確知識做成魚塭小遊戲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30秒小小解說員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1. 介紹一個最想推薦的台灣鯛知識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2. 說出一個惜食行動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3. 聲音清楚、看著聽眾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完成闖關護照，成為超級魚戰士小達人！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Padlet 議題交流牆：六大議題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1044000"/>
            <a:ext cx="11592000" cy="432000"/>
          </a:xfrm>
          <a:prstGeom prst="roundRect">
            <a:avLst>
              <a:gd name="adj" fmla="val 8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3A5E"/>
                </a:solidFill>
                <a:latin typeface="微軟正黑體"/>
                <a:ea typeface="微軟正黑體"/>
              </a:rPr>
              <a:t>掃描 QR Code 張貼觀點，為同學按讚、留言</a:t>
            </a:r>
          </a:p>
        </p:txBody>
      </p:sp>
      <p:pic>
        <p:nvPicPr>
          <p:cNvPr id="4" name="Picture 3" descr="padlet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930230"/>
            <a:ext cx="7740000" cy="4419540"/>
          </a:xfrm>
          <a:prstGeom prst="rect">
            <a:avLst/>
          </a:prstGeom>
        </p:spPr>
      </p:pic>
      <p:pic>
        <p:nvPicPr>
          <p:cNvPr id="5" name="Picture 4" descr="padlet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0" y="1655999"/>
            <a:ext cx="2880000" cy="288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80000" y="4608000"/>
            <a:ext cx="3600000" cy="20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43A5E"/>
                </a:solidFill>
                <a:latin typeface="微軟正黑體"/>
                <a:ea typeface="微軟正黑體"/>
              </a:rPr>
              <a:t>議題1 身世之謎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43A5E"/>
                </a:solidFill>
                <a:latin typeface="微軟正黑體"/>
                <a:ea typeface="微軟正黑體"/>
              </a:rPr>
              <a:t>議題2 外來種的功與過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43A5E"/>
                </a:solidFill>
                <a:latin typeface="微軟正黑體"/>
                <a:ea typeface="微軟正黑體"/>
              </a:rPr>
              <a:t>議題3 養殖漁業大追蹤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43A5E"/>
                </a:solidFill>
                <a:latin typeface="微軟正黑體"/>
                <a:ea typeface="微軟正黑體"/>
              </a:rPr>
              <a:t>議題4 餐桌上的台灣鯛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43A5E"/>
                </a:solidFill>
                <a:latin typeface="微軟正黑體"/>
                <a:ea typeface="微軟正黑體"/>
              </a:rPr>
              <a:t>議題5 台灣鯛與SDGs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43A5E"/>
                </a:solidFill>
                <a:latin typeface="微軟正黑體"/>
                <a:ea typeface="微軟正黑體"/>
              </a:rPr>
              <a:t>議題6 我是台灣鯛代言人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00" y="216000"/>
            <a:ext cx="11592000" cy="792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</a:rPr>
              <a:t>延伸課程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655999"/>
            <a:ext cx="5040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08000" bIns="108000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鯛魚燒的祕密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包入台灣鯛魚鬆的「真鯛魚燒」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魚骨頭變黃金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廚餘機堆肥・魚菜共生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07B1F"/>
                </a:solidFill>
                <a:latin typeface="微軟正黑體"/>
                <a:ea typeface="微軟正黑體"/>
              </a:rPr>
              <a:t>台灣鯛皮革趣</a:t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143A5E"/>
                </a:solidFill>
                <a:latin typeface="微軟正黑體"/>
                <a:ea typeface="微軟正黑體"/>
              </a:rPr>
              <a:t>魚皮鑰匙圈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jpg"/>
          <p:cNvPicPr>
            <a:picLocks noChangeAspect="1"/>
          </p:cNvPicPr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80000" y="2160000"/>
            <a:ext cx="10008000" cy="2160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軟正黑體"/>
                <a:ea typeface="微軟正黑體"/>
              </a:rPr>
              <a:t>珍惜每一口食物</a:t>
            </a:r>
          </a:p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</a:rPr>
              <a:t>從認識家鄉的魚開始——我們都是超級魚戰士！</a:t>
            </a:r>
          </a:p>
        </p:txBody>
      </p:sp>
      <p:pic>
        <p:nvPicPr>
          <p:cNvPr id="4" name="Picture 3" descr="site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2000" y="5184000"/>
            <a:ext cx="1440000" cy="1440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5616000"/>
            <a:ext cx="2880000" cy="7200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教學資源網站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